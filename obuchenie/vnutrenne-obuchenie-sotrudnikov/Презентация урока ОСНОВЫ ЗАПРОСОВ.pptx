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0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3F3F2"/>
    <a:srgbClr val="FFFFFF"/>
    <a:srgbClr val="B27906"/>
    <a:srgbClr val="F8B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0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5CB22-6601-AA1C-5A04-0EDEAC197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Запросы 1с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5150D3-C101-29D9-767E-657259D372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основы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B255014-D351-9937-6B5F-29A3CCB66BC5}"/>
              </a:ext>
            </a:extLst>
          </p:cNvPr>
          <p:cNvSpPr txBox="1">
            <a:spLocks/>
          </p:cNvSpPr>
          <p:nvPr/>
        </p:nvSpPr>
        <p:spPr>
          <a:xfrm>
            <a:off x="2215045" y="113199"/>
            <a:ext cx="8045373" cy="742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УРОК </a:t>
            </a:r>
            <a:r>
              <a:rPr lang="ru-RU" sz="2800" b="0" dirty="0"/>
              <a:t>1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56401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EC413-AA93-92C8-5EB7-1911EB86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382385"/>
            <a:ext cx="10565853" cy="1492132"/>
          </a:xfrm>
        </p:spPr>
        <p:txBody>
          <a:bodyPr>
            <a:normAutofit fontScale="90000"/>
          </a:bodyPr>
          <a:lstStyle/>
          <a:p>
            <a:r>
              <a:rPr lang="ru-RU" dirty="0"/>
              <a:t>Обзор основных понятий: таблицы, поля, соединения, условия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371D7A-9F77-9E93-FB77-68E246CC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571999"/>
          </a:xfrm>
        </p:spPr>
        <p:txBody>
          <a:bodyPr>
            <a:normAutofit fontScale="92500" lnSpcReduction="20000"/>
          </a:bodyPr>
          <a:lstStyle/>
          <a:p>
            <a:r>
              <a:rPr lang="ru-RU" sz="1600" b="1" dirty="0">
                <a:latin typeface="Corbel (Основной текст)"/>
              </a:rPr>
              <a:t>Выбираемые данные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dirty="0">
                <a:latin typeface="Corbel (Основной текст)"/>
              </a:rPr>
              <a:t>Указывает, какие поля или выражения нужно выбрать из таблиц </a:t>
            </a:r>
          </a:p>
          <a:p>
            <a:r>
              <a:rPr lang="ru-RU" sz="1600" b="1" dirty="0">
                <a:latin typeface="Corbel (Основной текст)"/>
              </a:rPr>
              <a:t>Источник данных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dirty="0">
                <a:latin typeface="Corbel (Основной текст)"/>
              </a:rPr>
              <a:t>Указывает таблицы или виртуальные таблицы, из которых будут выбираться данные </a:t>
            </a:r>
            <a:endParaRPr lang="en-US" sz="1600" dirty="0">
              <a:latin typeface="Corbel (Основной текст)"/>
            </a:endParaRPr>
          </a:p>
          <a:p>
            <a:r>
              <a:rPr lang="ru-RU" sz="1600" b="1" dirty="0">
                <a:latin typeface="Corbel (Основной текст)"/>
              </a:rPr>
              <a:t>Условия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dirty="0">
                <a:latin typeface="Corbel (Основной текст)"/>
              </a:rPr>
              <a:t>Фильтрует данные, выбирая только те записи, которые соответствуют указанным условиям    </a:t>
            </a:r>
          </a:p>
          <a:p>
            <a:r>
              <a:rPr lang="ru-RU" sz="1600" b="1" dirty="0">
                <a:latin typeface="Corbel (Основной текст)"/>
              </a:rPr>
              <a:t>Соединения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dirty="0">
                <a:latin typeface="Corbel (Основной текст)"/>
              </a:rPr>
              <a:t>Позволяет объединять данные из нескольких таблиц по определенным условиям    </a:t>
            </a:r>
          </a:p>
          <a:p>
            <a:r>
              <a:rPr lang="ru-RU" sz="1600" b="1" dirty="0">
                <a:latin typeface="Corbel (Основной текст)"/>
              </a:rPr>
              <a:t>Группировки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dirty="0">
                <a:latin typeface="Corbel (Основной текст)"/>
              </a:rPr>
              <a:t>Группирует данные по указанным полям. Обычно используется с агрегатными функциями (например, СУММА, КОЛИЧЕСТВО)</a:t>
            </a:r>
          </a:p>
          <a:p>
            <a:r>
              <a:rPr lang="ru-RU" sz="1600" b="1" dirty="0">
                <a:latin typeface="Corbel (Основной текст)"/>
              </a:rPr>
              <a:t>Сортировка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b="0" i="0" dirty="0">
                <a:solidFill>
                  <a:srgbClr val="404040"/>
                </a:solidFill>
                <a:effectLst/>
                <a:latin typeface="Corbel (Основной текст)"/>
              </a:rPr>
              <a:t>Указывает порядок сортировки результатов запроса</a:t>
            </a:r>
            <a:endParaRPr lang="ru-RU" sz="1600" b="1" dirty="0">
              <a:latin typeface="Corbel (Основной текст)"/>
            </a:endParaRPr>
          </a:p>
          <a:p>
            <a:r>
              <a:rPr lang="ru-RU" sz="1600" b="1" dirty="0">
                <a:latin typeface="Corbel (Основной текст)"/>
              </a:rPr>
              <a:t>Объединения результатов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b="0" i="0" dirty="0">
                <a:solidFill>
                  <a:srgbClr val="404040"/>
                </a:solidFill>
                <a:effectLst/>
                <a:latin typeface="Corbel (Основной текст)"/>
              </a:rPr>
              <a:t>Позволяет объединять результаты нескольких запросов</a:t>
            </a:r>
            <a:endParaRPr lang="ru-RU" sz="1600" b="1" dirty="0">
              <a:latin typeface="Corbel (Основной текст)"/>
            </a:endParaRPr>
          </a:p>
          <a:p>
            <a:r>
              <a:rPr lang="ru-RU" sz="1600" b="1" dirty="0">
                <a:latin typeface="Corbel (Основной текст)"/>
              </a:rPr>
              <a:t>Итоги</a:t>
            </a:r>
            <a:br>
              <a:rPr lang="ru-RU" sz="1600" b="1" dirty="0">
                <a:latin typeface="Corbel (Основной текст)"/>
              </a:rPr>
            </a:br>
            <a:r>
              <a:rPr lang="ru-RU" sz="1600" b="0" i="0" dirty="0">
                <a:solidFill>
                  <a:srgbClr val="404040"/>
                </a:solidFill>
                <a:effectLst/>
                <a:latin typeface="Corbel (Основной текст)"/>
              </a:rPr>
              <a:t>Позволяет выводить итоговые значения по группам</a:t>
            </a:r>
            <a:endParaRPr lang="ru-RU" sz="1600" b="1" dirty="0">
              <a:latin typeface="Corbel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66864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D6FD-54EA-B044-E6B5-7C19DA79F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52A1008-93B5-7E22-08DE-2BD163ABB521}"/>
              </a:ext>
            </a:extLst>
          </p:cNvPr>
          <p:cNvSpPr/>
          <p:nvPr/>
        </p:nvSpPr>
        <p:spPr>
          <a:xfrm>
            <a:off x="1251677" y="1165998"/>
            <a:ext cx="10264048" cy="4539478"/>
          </a:xfrm>
          <a:prstGeom prst="roundRect">
            <a:avLst>
              <a:gd name="adj" fmla="val 4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B8777-CEEE-1595-8B0A-DB11E97E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54232"/>
          </a:xfrm>
        </p:spPr>
        <p:txBody>
          <a:bodyPr>
            <a:normAutofit/>
          </a:bodyPr>
          <a:lstStyle/>
          <a:p>
            <a:r>
              <a:rPr lang="ru-RU" dirty="0"/>
              <a:t>Простой пример запроса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75567-F903-A5AE-9884-969BB989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517" y="1400175"/>
            <a:ext cx="9688644" cy="4824550"/>
          </a:xfrm>
        </p:spPr>
        <p:txBody>
          <a:bodyPr>
            <a:normAutofit/>
          </a:bodyPr>
          <a:lstStyle/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ВЫБРАТЬ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НоменклатураСписок.Ссылка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КАК Ссылка,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СУММА(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ХЛ_РаспределениеПроектовПоНоменклатуре.Цена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КАК Цена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ИЗ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Справочник.Номенклатура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КАК 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НоменклатураСписок</a:t>
            </a:r>
            <a:endParaRPr lang="ru-RU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ЛЕВОЕ СОЕДИНЕНИЕ 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РегистрСведений.ХЛ_РаспределениеПроектовПоНоменклатуре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КАК 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ХЛ_РаспределениеПроектовПоНоменклатуре</a:t>
            </a:r>
            <a:endParaRPr lang="ru-RU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ПО (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ХЛ_РаспределениеПроектовПоНоменклатуре.Номенклатура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НоменклатураСписок.Ссылка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ГДЕ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НоменклатураСписок.Родитель.Наименование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"Визуализация"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endParaRPr lang="ru-RU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СГРУППИРОВАТЬ ПО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НоменклатураСписок.Ссылка</a:t>
            </a:r>
            <a:endParaRPr lang="ru-RU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endParaRPr lang="ru-RU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ИМЕЮЩИЕ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СУММА(</a:t>
            </a:r>
            <a:r>
              <a:rPr lang="ru-RU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ХЛ_РаспределениеПроектовПоНоменклатуре.Цена</a:t>
            </a: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&gt; 1000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endParaRPr lang="ru-RU" sz="14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УПОРЯДОЧИТЬ ПО</a:t>
            </a:r>
          </a:p>
          <a:p>
            <a:pPr marL="0" indent="0">
              <a:lnSpc>
                <a:spcPts val="156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Цена</a:t>
            </a:r>
          </a:p>
        </p:txBody>
      </p:sp>
    </p:spTree>
    <p:extLst>
      <p:ext uri="{BB962C8B-B14F-4D97-AF65-F5344CB8AC3E}">
        <p14:creationId xmlns:p14="http://schemas.microsoft.com/office/powerpoint/2010/main" val="2938294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EB78-FA60-A057-2847-069EA699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36922-DC01-AC05-4173-E378AAA4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382385"/>
            <a:ext cx="10565853" cy="865390"/>
          </a:xfrm>
        </p:spPr>
        <p:txBody>
          <a:bodyPr>
            <a:normAutofit/>
          </a:bodyPr>
          <a:lstStyle/>
          <a:p>
            <a:r>
              <a:rPr lang="ru-RU" dirty="0"/>
              <a:t>Временные таблицы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E906DD-FE1C-1545-E9B9-5F182954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2466975"/>
            <a:ext cx="10178322" cy="1744983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Corbel (Основной текст)"/>
              </a:rPr>
              <a:t>Позволяет временно хранить данные на время выполнения запроса</a:t>
            </a:r>
          </a:p>
          <a:p>
            <a:r>
              <a:rPr lang="ru-RU" sz="1800" dirty="0">
                <a:latin typeface="Corbel (Основной текст)"/>
              </a:rPr>
              <a:t>Упрощает сложные запросы</a:t>
            </a:r>
          </a:p>
          <a:p>
            <a:r>
              <a:rPr lang="ru-RU" sz="1800" dirty="0">
                <a:latin typeface="Corbel (Основной текст)"/>
              </a:rPr>
              <a:t>Хранит промежуточные результаты</a:t>
            </a:r>
          </a:p>
          <a:p>
            <a:r>
              <a:rPr lang="ru-RU" sz="1800" dirty="0">
                <a:latin typeface="Corbel (Основной текст)"/>
              </a:rPr>
              <a:t>Оптимизации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89178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D818595-24BE-0BCB-B06F-6FF956805A9C}"/>
              </a:ext>
            </a:extLst>
          </p:cNvPr>
          <p:cNvSpPr/>
          <p:nvPr/>
        </p:nvSpPr>
        <p:spPr>
          <a:xfrm>
            <a:off x="1141776" y="1159260"/>
            <a:ext cx="10264048" cy="5203439"/>
          </a:xfrm>
          <a:prstGeom prst="roundRect">
            <a:avLst>
              <a:gd name="adj" fmla="val 4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EB3C1-26B7-CC81-2885-DCD99E47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временной таблицы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16921D1-6228-CF02-C164-15226D449C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26774" y="1616323"/>
            <a:ext cx="10179050" cy="40824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ВЫБРАТЬ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	</a:t>
            </a:r>
            <a:r>
              <a:rPr lang="ru-RU" sz="1600" b="1" dirty="0" err="1">
                <a:solidFill>
                  <a:schemeClr val="tx1"/>
                </a:solidFill>
                <a:latin typeface="Corbel (Основной текст)"/>
              </a:rPr>
              <a:t>Номенклатура.Ссылка</a:t>
            </a: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 КАК Ссылка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  <a:latin typeface="Corbel (Основной текст)"/>
              </a:rPr>
              <a:t>ПОМЕСТИТЬ </a:t>
            </a:r>
            <a:r>
              <a:rPr lang="ru-RU" sz="1600" b="1" dirty="0" err="1">
                <a:solidFill>
                  <a:schemeClr val="tx1"/>
                </a:solidFill>
                <a:highlight>
                  <a:srgbClr val="FFFF00"/>
                </a:highlight>
                <a:latin typeface="Corbel (Основной текст)"/>
              </a:rPr>
              <a:t>ВТ_НоменклатураВизуализации</a:t>
            </a:r>
            <a:endParaRPr lang="ru-RU" sz="1600" b="1" dirty="0">
              <a:solidFill>
                <a:schemeClr val="tx1"/>
              </a:solidFill>
              <a:highlight>
                <a:srgbClr val="FFFF00"/>
              </a:highlight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ИЗ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	</a:t>
            </a:r>
            <a:r>
              <a:rPr lang="ru-RU" sz="1600" b="1" dirty="0" err="1">
                <a:solidFill>
                  <a:schemeClr val="tx1"/>
                </a:solidFill>
                <a:latin typeface="Corbel (Основной текст)"/>
              </a:rPr>
              <a:t>Справочник.Номенклатура</a:t>
            </a: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 КАК Номенклатура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ГДЕ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	</a:t>
            </a:r>
            <a:r>
              <a:rPr lang="ru-RU" sz="1600" b="1" dirty="0" err="1">
                <a:solidFill>
                  <a:schemeClr val="tx1"/>
                </a:solidFill>
                <a:latin typeface="Corbel (Основной текст)"/>
              </a:rPr>
              <a:t>Номенклатура.Родитель.Наименование</a:t>
            </a:r>
            <a:r>
              <a:rPr lang="ru-RU" sz="1600" b="1" dirty="0">
                <a:solidFill>
                  <a:schemeClr val="tx1"/>
                </a:solidFill>
                <a:latin typeface="Corbel (Основной текст)"/>
              </a:rPr>
              <a:t> = "Визуализация "</a:t>
            </a:r>
            <a:r>
              <a:rPr lang="en-US" sz="1600" b="1" dirty="0">
                <a:solidFill>
                  <a:schemeClr val="tx1"/>
                </a:solidFill>
                <a:latin typeface="Corbel (Основной текст)"/>
              </a:rPr>
              <a:t>,</a:t>
            </a:r>
            <a:endParaRPr lang="ru-RU" sz="1600" b="1" dirty="0">
              <a:solidFill>
                <a:schemeClr val="tx1"/>
              </a:solidFill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b="1" dirty="0">
              <a:solidFill>
                <a:schemeClr val="tx1"/>
              </a:solidFill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accent4">
                    <a:lumMod val="50000"/>
                  </a:schemeClr>
                </a:solidFill>
                <a:latin typeface="Corbel (Основной текст)"/>
              </a:rPr>
              <a:t>//Ниже пример использования данных из временной таблицы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050" dirty="0"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ВЫБРАТЬ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</a:t>
            </a:r>
            <a:r>
              <a:rPr lang="ru-RU" sz="1050" dirty="0" err="1">
                <a:latin typeface="Corbel (Основной текст)"/>
              </a:rPr>
              <a:t>ХЛ_ПроектыИСделкиСмета.Ссылка</a:t>
            </a:r>
            <a:r>
              <a:rPr lang="ru-RU" sz="1050" dirty="0">
                <a:latin typeface="Corbel (Основной текст)"/>
              </a:rPr>
              <a:t> КАК Проект,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</a:t>
            </a:r>
            <a:r>
              <a:rPr lang="ru-RU" sz="1050" dirty="0" err="1">
                <a:latin typeface="Corbel (Основной текст)"/>
              </a:rPr>
              <a:t>ВТ_НоменклатураВизуализации.Ссылка</a:t>
            </a:r>
            <a:r>
              <a:rPr lang="ru-RU" sz="1050" dirty="0">
                <a:latin typeface="Corbel (Основной текст)"/>
              </a:rPr>
              <a:t> КАК Номенклатура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ИЗ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</a:t>
            </a:r>
            <a:r>
              <a:rPr lang="ru-RU" sz="1050" dirty="0" err="1">
                <a:latin typeface="Corbel (Основной текст)"/>
              </a:rPr>
              <a:t>ВТ_НоменклатураВизуализации</a:t>
            </a:r>
            <a:r>
              <a:rPr lang="ru-RU" sz="1050" dirty="0">
                <a:latin typeface="Corbel (Основной текст)"/>
              </a:rPr>
              <a:t> КАК </a:t>
            </a:r>
            <a:r>
              <a:rPr lang="ru-RU" sz="1050" dirty="0" err="1">
                <a:latin typeface="Corbel (Основной текст)"/>
              </a:rPr>
              <a:t>ВТ_НоменклатураВизуализации</a:t>
            </a:r>
            <a:endParaRPr lang="ru-RU" sz="1050" dirty="0"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	ЛЕВОЕ СОЕДИНЕНИЕ </a:t>
            </a:r>
            <a:r>
              <a:rPr lang="ru-RU" sz="1050" dirty="0" err="1">
                <a:latin typeface="Corbel (Основной текст)"/>
              </a:rPr>
              <a:t>Справочник.ХЛ_ПроектыИСделки.Смета</a:t>
            </a:r>
            <a:r>
              <a:rPr lang="ru-RU" sz="1050" dirty="0">
                <a:latin typeface="Corbel (Основной текст)"/>
              </a:rPr>
              <a:t> КАК </a:t>
            </a:r>
            <a:r>
              <a:rPr lang="ru-RU" sz="1050" dirty="0" err="1">
                <a:latin typeface="Corbel (Основной текст)"/>
              </a:rPr>
              <a:t>ХЛ_ПроектыИСделкиСмета</a:t>
            </a:r>
            <a:endParaRPr lang="ru-RU" sz="1050" dirty="0"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	ПО (</a:t>
            </a:r>
            <a:r>
              <a:rPr lang="ru-RU" sz="1050" dirty="0" err="1">
                <a:latin typeface="Corbel (Основной текст)"/>
              </a:rPr>
              <a:t>ВТ_НоменклатураВизуализации.Ссылка</a:t>
            </a:r>
            <a:r>
              <a:rPr lang="ru-RU" sz="1050" dirty="0">
                <a:latin typeface="Corbel (Основной текст)"/>
              </a:rPr>
              <a:t> = </a:t>
            </a:r>
            <a:r>
              <a:rPr lang="ru-RU" sz="1050" dirty="0" err="1">
                <a:latin typeface="Corbel (Основной текст)"/>
              </a:rPr>
              <a:t>ХЛ_ПроектыИСделкиСмета.Номенклатура</a:t>
            </a:r>
            <a:r>
              <a:rPr lang="ru-RU" sz="1050" dirty="0">
                <a:latin typeface="Corbel (Основной текст)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050" dirty="0"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СГРУППИРОВАТЬ ПО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</a:t>
            </a:r>
            <a:r>
              <a:rPr lang="ru-RU" sz="1050" dirty="0" err="1">
                <a:latin typeface="Corbel (Основной текст)"/>
              </a:rPr>
              <a:t>ВТ_НоменклатураВизуализации.Ссылка</a:t>
            </a:r>
            <a:r>
              <a:rPr lang="ru-RU" sz="1050" dirty="0">
                <a:latin typeface="Corbel (Основной текст)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</a:t>
            </a:r>
            <a:r>
              <a:rPr lang="ru-RU" sz="1050" dirty="0" err="1">
                <a:latin typeface="Corbel (Основной текст)"/>
              </a:rPr>
              <a:t>ХЛ_ПроектыИСделкиСмета.Ссылка</a:t>
            </a:r>
            <a:endParaRPr lang="ru-RU" sz="1050" dirty="0">
              <a:latin typeface="Corbel (Основной текст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ИТОГИ ПО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dirty="0">
                <a:latin typeface="Corbel (Основной текст)"/>
              </a:rPr>
              <a:t>	Проект</a:t>
            </a:r>
          </a:p>
        </p:txBody>
      </p:sp>
    </p:spTree>
    <p:extLst>
      <p:ext uri="{BB962C8B-B14F-4D97-AF65-F5344CB8AC3E}">
        <p14:creationId xmlns:p14="http://schemas.microsoft.com/office/powerpoint/2010/main" val="154844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B878-9C64-E838-2880-3B8BD683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1DED1FD-65AE-A13C-2E9A-A5AEC9BD62CC}"/>
              </a:ext>
            </a:extLst>
          </p:cNvPr>
          <p:cNvSpPr/>
          <p:nvPr/>
        </p:nvSpPr>
        <p:spPr>
          <a:xfrm>
            <a:off x="1141776" y="2192084"/>
            <a:ext cx="10264048" cy="1348283"/>
          </a:xfrm>
          <a:prstGeom prst="roundRect">
            <a:avLst>
              <a:gd name="adj" fmla="val 4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558D4-250F-F278-EEC4-87602556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 ГДЕ и Имеющие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74FB6-15B5-DC09-1B16-31CB154E039B}"/>
              </a:ext>
            </a:extLst>
          </p:cNvPr>
          <p:cNvSpPr txBox="1"/>
          <p:nvPr/>
        </p:nvSpPr>
        <p:spPr>
          <a:xfrm>
            <a:off x="1428750" y="1499711"/>
            <a:ext cx="96214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Corbel (Основной текст)"/>
              </a:rPr>
              <a:t>Условия фильтруют данные, выбирая только те записи, которые соответствуют указанным условиям</a:t>
            </a:r>
            <a:br>
              <a:rPr lang="ru-RU" sz="1800" dirty="0">
                <a:latin typeface="Corbel (Основной текст)"/>
              </a:rPr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ECA0A-5186-7C23-87B9-47045EA6E068}"/>
              </a:ext>
            </a:extLst>
          </p:cNvPr>
          <p:cNvSpPr txBox="1"/>
          <p:nvPr/>
        </p:nvSpPr>
        <p:spPr>
          <a:xfrm>
            <a:off x="1428750" y="3719928"/>
            <a:ext cx="9621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Corbel (Основной текст)"/>
              </a:rPr>
              <a:t>ИМЕЮЩИЕ - Фильтрует результаты группировки. Работает аналогично </a:t>
            </a:r>
            <a:r>
              <a:rPr lang="ru-RU" sz="1800" b="1" dirty="0">
                <a:latin typeface="Corbel (Основной текст)"/>
              </a:rPr>
              <a:t>ГДЕ</a:t>
            </a:r>
            <a:r>
              <a:rPr lang="ru-RU" sz="1800" dirty="0">
                <a:latin typeface="Corbel (Основной текст)"/>
              </a:rPr>
              <a:t>, но применяется после группировки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F6E65-6EAB-87CA-7287-87F216C2CCDD}"/>
              </a:ext>
            </a:extLst>
          </p:cNvPr>
          <p:cNvSpPr txBox="1"/>
          <p:nvPr/>
        </p:nvSpPr>
        <p:spPr>
          <a:xfrm>
            <a:off x="1428750" y="2505670"/>
            <a:ext cx="9621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Corbel (Основной текст)"/>
              </a:rPr>
              <a:t>ГДЕ</a:t>
            </a:r>
          </a:p>
          <a:p>
            <a:r>
              <a:rPr lang="ru-RU" sz="1800" dirty="0">
                <a:latin typeface="Corbel (Основной текст)"/>
              </a:rPr>
              <a:t>    </a:t>
            </a:r>
            <a:r>
              <a:rPr lang="ru-RU" sz="1800" dirty="0" err="1">
                <a:latin typeface="Corbel (Основной текст)"/>
              </a:rPr>
              <a:t>Номенклатура.Наименование</a:t>
            </a:r>
            <a:r>
              <a:rPr lang="ru-RU" sz="1800" dirty="0">
                <a:latin typeface="Corbel (Основной текст)"/>
              </a:rPr>
              <a:t> = "Стол"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D84CBF5-05C7-12AF-3507-15CDE2537F84}"/>
              </a:ext>
            </a:extLst>
          </p:cNvPr>
          <p:cNvSpPr/>
          <p:nvPr/>
        </p:nvSpPr>
        <p:spPr>
          <a:xfrm>
            <a:off x="1165952" y="4684147"/>
            <a:ext cx="10264048" cy="1348283"/>
          </a:xfrm>
          <a:prstGeom prst="roundRect">
            <a:avLst>
              <a:gd name="adj" fmla="val 4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976920-239B-8B1C-35AD-C4F3FF28A665}"/>
              </a:ext>
            </a:extLst>
          </p:cNvPr>
          <p:cNvSpPr txBox="1"/>
          <p:nvPr/>
        </p:nvSpPr>
        <p:spPr>
          <a:xfrm>
            <a:off x="1428750" y="5035122"/>
            <a:ext cx="9621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Corbel (Основной текст)"/>
              </a:rPr>
              <a:t>ИМЕЮЩИЕ</a:t>
            </a:r>
          </a:p>
          <a:p>
            <a:r>
              <a:rPr lang="ru-RU" sz="1800" dirty="0">
                <a:latin typeface="Corbel (Основной текст)"/>
              </a:rPr>
              <a:t>    СУММА(</a:t>
            </a:r>
            <a:r>
              <a:rPr lang="ru-RU" sz="1800" dirty="0" err="1">
                <a:latin typeface="Corbel (Основной текст)"/>
              </a:rPr>
              <a:t>Цены.Цена</a:t>
            </a:r>
            <a:r>
              <a:rPr lang="ru-RU" sz="1800" dirty="0">
                <a:latin typeface="Corbel (Основной текст)"/>
              </a:rPr>
              <a:t>) &gt; 1000</a:t>
            </a:r>
          </a:p>
        </p:txBody>
      </p:sp>
    </p:spTree>
    <p:extLst>
      <p:ext uri="{BB962C8B-B14F-4D97-AF65-F5344CB8AC3E}">
        <p14:creationId xmlns:p14="http://schemas.microsoft.com/office/powerpoint/2010/main" val="56689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BE229-C9B8-512F-CCED-ECF003AD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ru-RU" dirty="0"/>
              <a:t>Соединения таблиц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D6AC4E8A-FBFD-4371-0245-8CF77B16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379740"/>
            <a:ext cx="5048250" cy="509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236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E023E-6CC3-44A9-05B4-AF544B21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Перекрестное соединение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48F7B2-0AB7-1578-110E-BF3707D5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614487"/>
            <a:ext cx="5667375" cy="10191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025B21-BDBA-0896-5143-48C23204C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3865764"/>
            <a:ext cx="4019550" cy="1762125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728CEFB-B178-15D6-44A5-968470D6E590}"/>
              </a:ext>
            </a:extLst>
          </p:cNvPr>
          <p:cNvCxnSpPr/>
          <p:nvPr/>
        </p:nvCxnSpPr>
        <p:spPr>
          <a:xfrm>
            <a:off x="6095999" y="2857500"/>
            <a:ext cx="0" cy="7524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07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4286F-DB7B-D765-7EAC-96E30BBA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0BBB6-9AB4-47DC-44E2-FE9235F4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временных таблиц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15723E0A-29FD-BAFD-5322-101234736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58"/>
          <a:stretch/>
        </p:blipFill>
        <p:spPr bwMode="auto">
          <a:xfrm>
            <a:off x="3416300" y="1986975"/>
            <a:ext cx="8496300" cy="487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E247FA-F0C7-6E4D-0EB1-7D507CC6A557}"/>
              </a:ext>
            </a:extLst>
          </p:cNvPr>
          <p:cNvSpPr txBox="1"/>
          <p:nvPr/>
        </p:nvSpPr>
        <p:spPr>
          <a:xfrm>
            <a:off x="4762864" y="1986975"/>
            <a:ext cx="70227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Corbel (Основной текст)"/>
              </a:rPr>
              <a:t>Да кто этот ваш менеджер?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279447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064CD-B0C9-4516-6AB4-C770E914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3C1C9-BCFC-5BF3-90CF-1B60E286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временных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6F162-C2FE-B35F-46E4-F45DAE84BA31}"/>
              </a:ext>
            </a:extLst>
          </p:cNvPr>
          <p:cNvSpPr txBox="1"/>
          <p:nvPr/>
        </p:nvSpPr>
        <p:spPr>
          <a:xfrm>
            <a:off x="1251678" y="1501312"/>
            <a:ext cx="10508522" cy="348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ru-RU" sz="3200" b="1" dirty="0"/>
              <a:t>Когда это может быть полезно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Если нужно выполнить сложную обработку данных в несколько этапов.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Если требуется временно сохранить промежуточные результаты для дальнейшего использования.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Если нужно оптимизировать запросы, разбивая их на более простые части.</a:t>
            </a:r>
          </a:p>
        </p:txBody>
      </p:sp>
    </p:spTree>
    <p:extLst>
      <p:ext uri="{BB962C8B-B14F-4D97-AF65-F5344CB8AC3E}">
        <p14:creationId xmlns:p14="http://schemas.microsoft.com/office/powerpoint/2010/main" val="36445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655F-4B9F-AE94-343A-AC86649C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D575DA-3084-B461-8056-DE663D1D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временных таблиц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C616EC4-1B5A-5989-95D8-4F4E28334965}"/>
              </a:ext>
            </a:extLst>
          </p:cNvPr>
          <p:cNvSpPr/>
          <p:nvPr/>
        </p:nvSpPr>
        <p:spPr>
          <a:xfrm>
            <a:off x="3111500" y="1549400"/>
            <a:ext cx="5969000" cy="1708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672C7-1E40-45FB-39E7-DA0BEE21CAF9}"/>
              </a:ext>
            </a:extLst>
          </p:cNvPr>
          <p:cNvSpPr txBox="1"/>
          <p:nvPr/>
        </p:nvSpPr>
        <p:spPr>
          <a:xfrm>
            <a:off x="4788082" y="1798317"/>
            <a:ext cx="2615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Corbel (Основной текст)"/>
              </a:rPr>
              <a:t>МЕНЕДЖЕР</a:t>
            </a:r>
            <a:endParaRPr lang="ru-RU" sz="2800" b="1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1D7E12A-E60B-05A9-A3C2-C2B2E06FF875}"/>
              </a:ext>
            </a:extLst>
          </p:cNvPr>
          <p:cNvSpPr/>
          <p:nvPr/>
        </p:nvSpPr>
        <p:spPr>
          <a:xfrm>
            <a:off x="1130482" y="4500884"/>
            <a:ext cx="2933518" cy="9652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Получение сотрудников принятых в этом месяце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16497-967D-D74D-7528-EC352EA870D8}"/>
              </a:ext>
            </a:extLst>
          </p:cNvPr>
          <p:cNvSpPr txBox="1"/>
          <p:nvPr/>
        </p:nvSpPr>
        <p:spPr>
          <a:xfrm>
            <a:off x="3403600" y="2314501"/>
            <a:ext cx="538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Corbel (Основной текст)"/>
              </a:rPr>
              <a:t>Получить список работающих сотрудников</a:t>
            </a:r>
            <a:endParaRPr lang="ru-RU" sz="240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537AC4C-6B3D-B94D-F60D-EDF632941D1B}"/>
              </a:ext>
            </a:extLst>
          </p:cNvPr>
          <p:cNvSpPr/>
          <p:nvPr/>
        </p:nvSpPr>
        <p:spPr>
          <a:xfrm>
            <a:off x="4267200" y="4500884"/>
            <a:ext cx="3657600" cy="9652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Получение списка образований сотрудников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A486E45-7AA0-8AA7-8361-F5484776EF02}"/>
              </a:ext>
            </a:extLst>
          </p:cNvPr>
          <p:cNvSpPr/>
          <p:nvPr/>
        </p:nvSpPr>
        <p:spPr>
          <a:xfrm>
            <a:off x="8128000" y="4500884"/>
            <a:ext cx="3657600" cy="9652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Получить количество сотрудников в подразделениях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7C5BF96-B55E-F250-4767-B185D5C4D019}"/>
              </a:ext>
            </a:extLst>
          </p:cNvPr>
          <p:cNvCxnSpPr>
            <a:stCxn id="3" idx="2"/>
            <a:endCxn id="6" idx="0"/>
          </p:cNvCxnSpPr>
          <p:nvPr/>
        </p:nvCxnSpPr>
        <p:spPr>
          <a:xfrm flipH="1">
            <a:off x="2597241" y="3257432"/>
            <a:ext cx="3498759" cy="12434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9C50B92D-90B7-45E8-C7CB-84437A3D96F7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6096000" y="3257432"/>
            <a:ext cx="0" cy="12434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B2F8478-9C4E-FB6E-A2C6-CE3AADBB06EF}"/>
              </a:ext>
            </a:extLst>
          </p:cNvPr>
          <p:cNvCxnSpPr>
            <a:stCxn id="3" idx="2"/>
            <a:endCxn id="11" idx="0"/>
          </p:cNvCxnSpPr>
          <p:nvPr/>
        </p:nvCxnSpPr>
        <p:spPr>
          <a:xfrm>
            <a:off x="6096000" y="3257432"/>
            <a:ext cx="3860800" cy="12434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66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A07C-34C0-8AEF-1159-81C57071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8B1F2-A275-604E-D399-F767E988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ошибки плохих запросов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133E81-BA19-7339-6918-C9B490554401}"/>
              </a:ext>
            </a:extLst>
          </p:cNvPr>
          <p:cNvSpPr txBox="1"/>
          <p:nvPr/>
        </p:nvSpPr>
        <p:spPr>
          <a:xfrm>
            <a:off x="1155700" y="1874517"/>
            <a:ext cx="8382000" cy="4280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Соединения с подзапросами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Условия Или в фильтрах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Получение через точку полей составного типа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Условия виртуальных таблиц без параметров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800" b="1" dirty="0"/>
              <a:t>Излишняя выборка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413617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D3F3-38C8-DA21-ABA1-20EFD5AE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68A1E-BB45-2922-1825-83AE7523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5715"/>
          </a:xfrm>
        </p:spPr>
        <p:txBody>
          <a:bodyPr/>
          <a:lstStyle/>
          <a:p>
            <a:r>
              <a:rPr lang="en-US" dirty="0"/>
              <a:t>C</a:t>
            </a:r>
            <a:r>
              <a:rPr lang="ru-RU" dirty="0" err="1"/>
              <a:t>оединения</a:t>
            </a:r>
            <a:r>
              <a:rPr lang="ru-RU" dirty="0"/>
              <a:t> с подзапросами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F7782-154D-FDF9-5C9F-A7D9C97E228D}"/>
              </a:ext>
            </a:extLst>
          </p:cNvPr>
          <p:cNvSpPr txBox="1"/>
          <p:nvPr/>
        </p:nvSpPr>
        <p:spPr>
          <a:xfrm>
            <a:off x="1435100" y="2090172"/>
            <a:ext cx="1027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 написании запросов </a:t>
            </a:r>
            <a:r>
              <a:rPr lang="ru-RU" sz="2400" b="1" dirty="0"/>
              <a:t>не следует использовать соединения с подзапросами</a:t>
            </a:r>
            <a:r>
              <a:rPr lang="ru-RU" sz="2400" dirty="0"/>
              <a:t>. </a:t>
            </a:r>
          </a:p>
          <a:p>
            <a:r>
              <a:rPr lang="ru-RU" sz="2400" dirty="0"/>
              <a:t>Следует соединять друг с другом только объекты метаданных или временные таблицы. </a:t>
            </a:r>
          </a:p>
          <a:p>
            <a:endParaRPr lang="ru-RU" sz="2400" dirty="0"/>
          </a:p>
          <a:p>
            <a:r>
              <a:rPr lang="ru-RU" sz="2400" dirty="0"/>
              <a:t>Если запрос использует соединения с подзапросами, то его следует переписать с использованием </a:t>
            </a:r>
            <a:r>
              <a:rPr lang="ru-RU" sz="2400" b="1" dirty="0"/>
              <a:t>временных таблиц</a:t>
            </a:r>
          </a:p>
        </p:txBody>
      </p:sp>
    </p:spTree>
    <p:extLst>
      <p:ext uri="{BB962C8B-B14F-4D97-AF65-F5344CB8AC3E}">
        <p14:creationId xmlns:p14="http://schemas.microsoft.com/office/powerpoint/2010/main" val="2534987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47C19-53FD-9611-2C7B-2D3691CF3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F6573-0D1B-2F40-A810-D9E9F3A4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5715"/>
          </a:xfrm>
        </p:spPr>
        <p:txBody>
          <a:bodyPr/>
          <a:lstStyle/>
          <a:p>
            <a:r>
              <a:rPr lang="ru-RU" dirty="0"/>
              <a:t>Соединения с подзапросами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F7E9D6-8043-6849-F75A-DBD82C2E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1833562"/>
            <a:ext cx="10638089" cy="360203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CDA2AF5-8D14-5EF6-E669-4A92883C388E}"/>
              </a:ext>
            </a:extLst>
          </p:cNvPr>
          <p:cNvSpPr txBox="1">
            <a:spLocks/>
          </p:cNvSpPr>
          <p:nvPr/>
        </p:nvSpPr>
        <p:spPr>
          <a:xfrm>
            <a:off x="1251678" y="1104900"/>
            <a:ext cx="10178322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Неоптимальный пример</a:t>
            </a:r>
          </a:p>
        </p:txBody>
      </p:sp>
    </p:spTree>
    <p:extLst>
      <p:ext uri="{BB962C8B-B14F-4D97-AF65-F5344CB8AC3E}">
        <p14:creationId xmlns:p14="http://schemas.microsoft.com/office/powerpoint/2010/main" val="2657723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0A118-1901-3AC4-FB65-61B9E502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2C65E-B6F5-53D9-66DB-439B030F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5715"/>
          </a:xfrm>
        </p:spPr>
        <p:txBody>
          <a:bodyPr/>
          <a:lstStyle/>
          <a:p>
            <a:r>
              <a:rPr lang="ru-RU" dirty="0"/>
              <a:t>Соединения с подзапросами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3DB4624-CD0F-46A9-135A-FD70FE5C690B}"/>
              </a:ext>
            </a:extLst>
          </p:cNvPr>
          <p:cNvSpPr txBox="1">
            <a:spLocks/>
          </p:cNvSpPr>
          <p:nvPr/>
        </p:nvSpPr>
        <p:spPr>
          <a:xfrm>
            <a:off x="1251678" y="1104900"/>
            <a:ext cx="10178322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Исправленный вариант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E80EC7-F511-EE68-F68D-8328E1DC7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78" y="1638300"/>
            <a:ext cx="8451122" cy="4613464"/>
          </a:xfrm>
          <a:prstGeom prst="rect">
            <a:avLst/>
          </a:prstGeom>
        </p:spPr>
      </p:pic>
      <p:sp>
        <p:nvSpPr>
          <p:cNvPr id="9" name="Двойные круглые скобки 8">
            <a:extLst>
              <a:ext uri="{FF2B5EF4-FFF2-40B4-BE49-F238E27FC236}">
                <a16:creationId xmlns:a16="http://schemas.microsoft.com/office/drawing/2014/main" id="{CC9D22CE-99EB-24BB-C3D0-B1671190C68E}"/>
              </a:ext>
            </a:extLst>
          </p:cNvPr>
          <p:cNvSpPr/>
          <p:nvPr/>
        </p:nvSpPr>
        <p:spPr>
          <a:xfrm>
            <a:off x="2692400" y="1638300"/>
            <a:ext cx="9118600" cy="2159000"/>
          </a:xfrm>
          <a:prstGeom prst="bracketPair">
            <a:avLst>
              <a:gd name="adj" fmla="val 902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A8F7B0F-7455-93B7-B047-3F458A3000EB}"/>
              </a:ext>
            </a:extLst>
          </p:cNvPr>
          <p:cNvSpPr txBox="1">
            <a:spLocks/>
          </p:cNvSpPr>
          <p:nvPr/>
        </p:nvSpPr>
        <p:spPr>
          <a:xfrm>
            <a:off x="892537" y="2073268"/>
            <a:ext cx="1799863" cy="1200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ru-RU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Получаем данные из регистра во временную таблицу</a:t>
            </a:r>
          </a:p>
        </p:txBody>
      </p:sp>
      <p:sp>
        <p:nvSpPr>
          <p:cNvPr id="11" name="Двойные круглые скобки 10">
            <a:extLst>
              <a:ext uri="{FF2B5EF4-FFF2-40B4-BE49-F238E27FC236}">
                <a16:creationId xmlns:a16="http://schemas.microsoft.com/office/drawing/2014/main" id="{3B7B496D-75FA-5F81-3C1A-33223F67C752}"/>
              </a:ext>
            </a:extLst>
          </p:cNvPr>
          <p:cNvSpPr/>
          <p:nvPr/>
        </p:nvSpPr>
        <p:spPr>
          <a:xfrm>
            <a:off x="2692400" y="3949700"/>
            <a:ext cx="9118600" cy="381000"/>
          </a:xfrm>
          <a:prstGeom prst="bracketPair">
            <a:avLst>
              <a:gd name="adj" fmla="val 42353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C01E802-E2FE-00DE-0ACA-96ABD6B85839}"/>
              </a:ext>
            </a:extLst>
          </p:cNvPr>
          <p:cNvSpPr txBox="1">
            <a:spLocks/>
          </p:cNvSpPr>
          <p:nvPr/>
        </p:nvSpPr>
        <p:spPr>
          <a:xfrm>
            <a:off x="692878" y="3803648"/>
            <a:ext cx="2159000" cy="6731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ru-RU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Индексируем связываемое поле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13D0DC2-D042-80D2-D101-816AF42E1F8C}"/>
              </a:ext>
            </a:extLst>
          </p:cNvPr>
          <p:cNvSpPr txBox="1">
            <a:spLocks/>
          </p:cNvSpPr>
          <p:nvPr/>
        </p:nvSpPr>
        <p:spPr>
          <a:xfrm>
            <a:off x="892537" y="5006976"/>
            <a:ext cx="1701800" cy="7730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Выбираем данные</a:t>
            </a:r>
          </a:p>
        </p:txBody>
      </p:sp>
      <p:sp>
        <p:nvSpPr>
          <p:cNvPr id="14" name="Двойные круглые скобки 13">
            <a:extLst>
              <a:ext uri="{FF2B5EF4-FFF2-40B4-BE49-F238E27FC236}">
                <a16:creationId xmlns:a16="http://schemas.microsoft.com/office/drawing/2014/main" id="{A2F49525-E5C7-3BAD-B664-8340FB94859B}"/>
              </a:ext>
            </a:extLst>
          </p:cNvPr>
          <p:cNvSpPr/>
          <p:nvPr/>
        </p:nvSpPr>
        <p:spPr>
          <a:xfrm>
            <a:off x="2692400" y="4422964"/>
            <a:ext cx="9118600" cy="1828800"/>
          </a:xfrm>
          <a:prstGeom prst="bracketPair">
            <a:avLst>
              <a:gd name="adj" fmla="val 902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074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2D169-E8E0-B1A7-1C1A-83F8C50A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05A91-7476-8296-9956-AD54C2AC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5715"/>
          </a:xfrm>
        </p:spPr>
        <p:txBody>
          <a:bodyPr/>
          <a:lstStyle/>
          <a:p>
            <a:r>
              <a:rPr lang="ru-RU" dirty="0"/>
              <a:t>Условия или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1F5A7-B7F7-7966-F202-AEB2A88F9A3C}"/>
              </a:ext>
            </a:extLst>
          </p:cNvPr>
          <p:cNvSpPr txBox="1"/>
          <p:nvPr/>
        </p:nvSpPr>
        <p:spPr>
          <a:xfrm>
            <a:off x="1251678" y="2259449"/>
            <a:ext cx="998782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Не следует использовать </a:t>
            </a:r>
            <a:r>
              <a:rPr lang="ru-RU" sz="2800" b="1" dirty="0">
                <a:highlight>
                  <a:srgbClr val="C0C0C0"/>
                </a:highlight>
              </a:rPr>
              <a:t>ИЛИ</a:t>
            </a:r>
            <a:r>
              <a:rPr lang="ru-RU" sz="2800" dirty="0"/>
              <a:t> в секции </a:t>
            </a:r>
            <a:r>
              <a:rPr lang="ru-RU" sz="2800" b="1" dirty="0">
                <a:highlight>
                  <a:srgbClr val="C0C0C0"/>
                </a:highlight>
              </a:rPr>
              <a:t>ГДЕ</a:t>
            </a:r>
            <a:r>
              <a:rPr lang="ru-RU" sz="2800" dirty="0"/>
              <a:t> запроса. </a:t>
            </a:r>
          </a:p>
          <a:p>
            <a:endParaRPr lang="ru-RU" dirty="0"/>
          </a:p>
          <a:p>
            <a:r>
              <a:rPr lang="ru-RU" sz="2000" dirty="0"/>
              <a:t>Это может привести к тому, что СУБД не сможет использовать индексы таблиц и будет выполнять сканирование, что увеличит время работы запроса и вероятность возникновения блокировок. </a:t>
            </a:r>
          </a:p>
          <a:p>
            <a:endParaRPr lang="ru-RU" sz="2000" dirty="0"/>
          </a:p>
          <a:p>
            <a:r>
              <a:rPr lang="ru-RU" sz="2000" dirty="0"/>
              <a:t>Вместо этого следует разбить один запрос на несколько и объединить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224438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230FE-33D9-3917-B3B2-6D0F5E50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02E68-0B4C-97D0-2D98-FA651F76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5715"/>
          </a:xfrm>
        </p:spPr>
        <p:txBody>
          <a:bodyPr/>
          <a:lstStyle/>
          <a:p>
            <a:r>
              <a:rPr lang="ru-RU" dirty="0"/>
              <a:t>Условия или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8EA703-9FA9-A266-C1CF-BAB555CF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3152976"/>
            <a:ext cx="4469863" cy="14825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07FB2C-AD6F-724C-E40C-22F7F07B0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397" y="2289375"/>
            <a:ext cx="4203484" cy="3209726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1736285-65F7-3AAD-14CA-6A2D0A06EE1A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5721541" y="3894238"/>
            <a:ext cx="12988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82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6BF9-5198-5459-D144-71EEA7B51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7D66F-4C25-61C0-4455-F5384535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данных через точку от полей составного типа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4EAB0-7859-2F1E-81EB-F6F3F9B84668}"/>
              </a:ext>
            </a:extLst>
          </p:cNvPr>
          <p:cNvSpPr txBox="1"/>
          <p:nvPr/>
        </p:nvSpPr>
        <p:spPr>
          <a:xfrm>
            <a:off x="1251678" y="1874516"/>
            <a:ext cx="103815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в запросе используется получение значения через точку от поля составного ссылочного типа, то при выполнении этого запроса будет выполняться соединение со всеми таблицами объектов, входящими в этот составной тип.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C07F97-F3DC-5555-5560-CB6C9705C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49" y="3019311"/>
            <a:ext cx="5984300" cy="3389033"/>
          </a:xfrm>
          <a:prstGeom prst="rect">
            <a:avLst/>
          </a:prstGeom>
          <a:ln w="762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621995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C92F4-D20B-774B-2256-0675F8BE9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D93B6-6677-EB56-5F60-013170C4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данных через точку от полей составного типа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CE673E-1FBE-27B9-3810-2251EA4E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32" y="1936868"/>
            <a:ext cx="6422136" cy="1492132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A4FC9E-33DC-23B3-032C-2AC07C629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854710"/>
            <a:ext cx="7467600" cy="2838450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794061B-73A9-4F47-36C7-79F5B3A78E43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6096000" y="3429000"/>
            <a:ext cx="0" cy="425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037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363D-4316-7172-DD55-9053C9DB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63FCB-8300-5BA4-9950-4F79C244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Условия в виртуальных таблицах без использования параметров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EA4A6-B89C-F362-3815-21A41C883FB9}"/>
              </a:ext>
            </a:extLst>
          </p:cNvPr>
          <p:cNvSpPr txBox="1"/>
          <p:nvPr/>
        </p:nvSpPr>
        <p:spPr>
          <a:xfrm>
            <a:off x="1816100" y="1989256"/>
            <a:ext cx="838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 использовании виртуальных таблиц в запросах, следует передавать в параметры таблиц все условия, относящиеся к данной виртуальной таблице. </a:t>
            </a:r>
          </a:p>
          <a:p>
            <a:endParaRPr lang="ru-RU" dirty="0"/>
          </a:p>
          <a:p>
            <a:r>
              <a:rPr lang="ru-RU" sz="2400" b="1" dirty="0"/>
              <a:t>Не рекомендуется фильтровать виртуальные таблицы при помощи условий в секции ГДЕ и т.п. </a:t>
            </a:r>
          </a:p>
          <a:p>
            <a:endParaRPr lang="ru-RU" dirty="0"/>
          </a:p>
          <a:p>
            <a:r>
              <a:rPr lang="ru-RU" dirty="0"/>
              <a:t>Такой запрос будет возвращать правильный (с точки зрения функциональности) результат, но СУБД будет намного сложнее выбрать оптимальный план для его выполнения</a:t>
            </a:r>
          </a:p>
        </p:txBody>
      </p:sp>
      <p:sp>
        <p:nvSpPr>
          <p:cNvPr id="7" name="Двойные круглые скобки 6">
            <a:extLst>
              <a:ext uri="{FF2B5EF4-FFF2-40B4-BE49-F238E27FC236}">
                <a16:creationId xmlns:a16="http://schemas.microsoft.com/office/drawing/2014/main" id="{0E9492A2-ADE5-6C50-47F6-CA2DE3CFF22C}"/>
              </a:ext>
            </a:extLst>
          </p:cNvPr>
          <p:cNvSpPr/>
          <p:nvPr/>
        </p:nvSpPr>
        <p:spPr>
          <a:xfrm>
            <a:off x="1028700" y="3225800"/>
            <a:ext cx="9347200" cy="977900"/>
          </a:xfrm>
          <a:prstGeom prst="bracketPair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нак умножения 7">
            <a:extLst>
              <a:ext uri="{FF2B5EF4-FFF2-40B4-BE49-F238E27FC236}">
                <a16:creationId xmlns:a16="http://schemas.microsoft.com/office/drawing/2014/main" id="{A4CD777F-7AD8-9C85-72A6-AAA46C5A9B71}"/>
              </a:ext>
            </a:extLst>
          </p:cNvPr>
          <p:cNvSpPr/>
          <p:nvPr/>
        </p:nvSpPr>
        <p:spPr>
          <a:xfrm>
            <a:off x="1251678" y="3454400"/>
            <a:ext cx="520700" cy="520700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923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5529-1936-1903-B008-C4F11A91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B3987-AD19-DDFE-0926-348E6C3E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Условия в виртуальных таблицах без использования параметров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C4EC9A-5778-EFB3-2553-59F9999E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461" y="2035175"/>
            <a:ext cx="5561077" cy="139382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13B7B8-0CFF-F37B-25E4-5E460C4A2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198"/>
          <a:stretch/>
        </p:blipFill>
        <p:spPr>
          <a:xfrm>
            <a:off x="2519928" y="4694913"/>
            <a:ext cx="7152144" cy="95658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408EEF1-624B-F30E-1BD6-7F6A44CCAC6E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096000" y="3429000"/>
            <a:ext cx="0" cy="1265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199833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418</TotalTime>
  <Words>728</Words>
  <Application>Microsoft Office PowerPoint</Application>
  <PresentationFormat>Широкоэкранный</PresentationFormat>
  <Paragraphs>117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Corbel</vt:lpstr>
      <vt:lpstr>Corbel (Основной текст)</vt:lpstr>
      <vt:lpstr>Courier New</vt:lpstr>
      <vt:lpstr>Gill Sans MT</vt:lpstr>
      <vt:lpstr>Impact</vt:lpstr>
      <vt:lpstr>Эмблема</vt:lpstr>
      <vt:lpstr>Запросы 1с</vt:lpstr>
      <vt:lpstr>Обзор основных понятий: таблицы, поля, соединения, условия</vt:lpstr>
      <vt:lpstr>Простой пример запроса</vt:lpstr>
      <vt:lpstr>Временные таблицы</vt:lpstr>
      <vt:lpstr>Пример временной таблицы</vt:lpstr>
      <vt:lpstr>Условия ГДЕ и Имеющие</vt:lpstr>
      <vt:lpstr>Соединения таблиц</vt:lpstr>
      <vt:lpstr>Перекрестное соединение</vt:lpstr>
      <vt:lpstr>Менеджер временных таблиц</vt:lpstr>
      <vt:lpstr>Менеджер временных таблиц</vt:lpstr>
      <vt:lpstr>Менеджер временных таблиц</vt:lpstr>
      <vt:lpstr>Основные ошибки плохих запросов</vt:lpstr>
      <vt:lpstr>Cоединения с подзапросами</vt:lpstr>
      <vt:lpstr>Соединения с подзапросами</vt:lpstr>
      <vt:lpstr>Соединения с подзапросами</vt:lpstr>
      <vt:lpstr>Условия или</vt:lpstr>
      <vt:lpstr>Условия или</vt:lpstr>
      <vt:lpstr>Получение данных через точку от полей составного типа</vt:lpstr>
      <vt:lpstr>Получение данных через точку от полей составного типа</vt:lpstr>
      <vt:lpstr>Условия в виртуальных таблицах без использования параметров</vt:lpstr>
      <vt:lpstr>Условия в виртуальных таблицах без использования параметров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Вусал Османов</dc:creator>
  <cp:lastModifiedBy>Вусал Османов</cp:lastModifiedBy>
  <cp:revision>13</cp:revision>
  <dcterms:created xsi:type="dcterms:W3CDTF">2025-03-20T07:27:27Z</dcterms:created>
  <dcterms:modified xsi:type="dcterms:W3CDTF">2025-03-20T14:25:59Z</dcterms:modified>
</cp:coreProperties>
</file>